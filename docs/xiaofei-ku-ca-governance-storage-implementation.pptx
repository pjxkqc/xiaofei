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585664e7b64c37" /><Relationship Type="http://schemas.openxmlformats.org/officeDocument/2006/relationships/extended-properties" Target="/docProps/app.xml" Id="R4c6516a9e1824164" /><Relationship Type="http://schemas.openxmlformats.org/officeDocument/2006/relationships/officeDocument" Target="/ppt/presentation.xml" Id="R204101e681a843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1f1b5976bf4872"/>
  </p:sldMasterIdLst>
  <p:notesMasterIdLst>
    <p:notesMasterId xmlns:r="http://schemas.openxmlformats.org/officeDocument/2006/relationships" r:id="Rbc8029825d2142c9"/>
  </p:notesMasterIdLst>
  <p:sldIdLst>
    <p:sldId xmlns:r="http://schemas.openxmlformats.org/officeDocument/2006/relationships" id="256" r:id="Racdd588aea8e4ecf"/>
    <p:sldId xmlns:r="http://schemas.openxmlformats.org/officeDocument/2006/relationships" id="257" r:id="R387c3978d0b24510"/>
    <p:sldId xmlns:r="http://schemas.openxmlformats.org/officeDocument/2006/relationships" id="258" r:id="Rd41d2ea1a911475f"/>
    <p:sldId xmlns:r="http://schemas.openxmlformats.org/officeDocument/2006/relationships" id="259" r:id="R8b033202ebdb4f5e"/>
    <p:sldId xmlns:r="http://schemas.openxmlformats.org/officeDocument/2006/relationships" id="260" r:id="R656b41d8a4ab4f78"/>
    <p:sldId xmlns:r="http://schemas.openxmlformats.org/officeDocument/2006/relationships" id="261" r:id="Rae2f3487485f469e"/>
    <p:sldId xmlns:r="http://schemas.openxmlformats.org/officeDocument/2006/relationships" id="262" r:id="Refbceb287fae4e6f"/>
    <p:sldId xmlns:r="http://schemas.openxmlformats.org/officeDocument/2006/relationships" id="263" r:id="Rb53b80f520344552"/>
    <p:sldId xmlns:r="http://schemas.openxmlformats.org/officeDocument/2006/relationships" id="264" r:id="R905a2e9b8b9c4343"/>
    <p:sldId xmlns:r="http://schemas.openxmlformats.org/officeDocument/2006/relationships" id="265" r:id="R6c0a93fa1ac7473d"/>
    <p:sldId xmlns:r="http://schemas.openxmlformats.org/officeDocument/2006/relationships" id="266" r:id="R654c7ddfe3984bc3"/>
    <p:sldId xmlns:r="http://schemas.openxmlformats.org/officeDocument/2006/relationships" id="267" r:id="R736c1ee723fc4e39"/>
    <p:sldId xmlns:r="http://schemas.openxmlformats.org/officeDocument/2006/relationships" id="268" r:id="R921dde324e184e3d"/>
    <p:sldId xmlns:r="http://schemas.openxmlformats.org/officeDocument/2006/relationships" id="269" r:id="Re2c1af78460747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65c1075d384c5c" /><Relationship Type="http://schemas.openxmlformats.org/officeDocument/2006/relationships/slideMaster" Target="/ppt/slideMasters/slideMaster1.xml" Id="Ra81f1b5976bf4872" /><Relationship Type="http://schemas.openxmlformats.org/officeDocument/2006/relationships/notesMaster" Target="/ppt/notesMasters/notesMaster1.xml" Id="Rbc8029825d2142c9" /><Relationship Type="http://schemas.openxmlformats.org/officeDocument/2006/relationships/presProps" Target="/ppt/presProps.xml" Id="Rce766b3d105844b2" /><Relationship Type="http://schemas.openxmlformats.org/officeDocument/2006/relationships/tableStyles" Target="/ppt/tableStyles.xml" Id="Rae4b72d4d1114cff" /><Relationship Type="http://schemas.openxmlformats.org/officeDocument/2006/relationships/slide" Target="/ppt/slides/slide1.xml" Id="Racdd588aea8e4ecf" /><Relationship Type="http://schemas.openxmlformats.org/officeDocument/2006/relationships/slide" Target="/ppt/slides/slide2.xml" Id="R387c3978d0b24510" /><Relationship Type="http://schemas.openxmlformats.org/officeDocument/2006/relationships/slide" Target="/ppt/slides/slide3.xml" Id="Rd41d2ea1a911475f" /><Relationship Type="http://schemas.openxmlformats.org/officeDocument/2006/relationships/slide" Target="/ppt/slides/slide4.xml" Id="R8b033202ebdb4f5e" /><Relationship Type="http://schemas.openxmlformats.org/officeDocument/2006/relationships/slide" Target="/ppt/slides/slide5.xml" Id="R656b41d8a4ab4f78" /><Relationship Type="http://schemas.openxmlformats.org/officeDocument/2006/relationships/slide" Target="/ppt/slides/slide6.xml" Id="Rae2f3487485f469e" /><Relationship Type="http://schemas.openxmlformats.org/officeDocument/2006/relationships/slide" Target="/ppt/slides/slide7.xml" Id="Refbceb287fae4e6f" /><Relationship Type="http://schemas.openxmlformats.org/officeDocument/2006/relationships/slide" Target="/ppt/slides/slide8.xml" Id="Rb53b80f520344552" /><Relationship Type="http://schemas.openxmlformats.org/officeDocument/2006/relationships/slide" Target="/ppt/slides/slide9.xml" Id="R905a2e9b8b9c4343" /><Relationship Type="http://schemas.openxmlformats.org/officeDocument/2006/relationships/slide" Target="/ppt/slides/slide10.xml" Id="R6c0a93fa1ac7473d" /><Relationship Type="http://schemas.openxmlformats.org/officeDocument/2006/relationships/slide" Target="/ppt/slides/slide11.xml" Id="R654c7ddfe3984bc3" /><Relationship Type="http://schemas.openxmlformats.org/officeDocument/2006/relationships/slide" Target="/ppt/slides/slide12.xml" Id="R736c1ee723fc4e39" /><Relationship Type="http://schemas.openxmlformats.org/officeDocument/2006/relationships/slide" Target="/ppt/slides/slide13.xml" Id="R921dde324e184e3d" /><Relationship Type="http://schemas.openxmlformats.org/officeDocument/2006/relationships/slide" Target="/ppt/slides/slide14.xml" Id="Re2c1af78460747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52d46998ea4a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c62ce323e84c2d" /><Relationship Type="http://schemas.openxmlformats.org/officeDocument/2006/relationships/notesMaster" Target="/ppt/notesMasters/notesMaster1.xml" Id="R7dd09c7d1fd74a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2b1ad3f5d94d4c" /><Relationship Type="http://schemas.openxmlformats.org/officeDocument/2006/relationships/notesMaster" Target="/ppt/notesMasters/notesMaster1.xml" Id="R3d52dcd551d84d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1a0229db68452d" /><Relationship Type="http://schemas.openxmlformats.org/officeDocument/2006/relationships/notesMaster" Target="/ppt/notesMasters/notesMaster1.xml" Id="R051c652818ec47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494146032145ee" /><Relationship Type="http://schemas.openxmlformats.org/officeDocument/2006/relationships/notesMaster" Target="/ppt/notesMasters/notesMaster1.xml" Id="Rc57eb141896941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f99dce61574691" /><Relationship Type="http://schemas.openxmlformats.org/officeDocument/2006/relationships/notesMaster" Target="/ppt/notesMasters/notesMaster1.xml" Id="R0f8112a7b4104b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f61a0aeaa94b05" /><Relationship Type="http://schemas.openxmlformats.org/officeDocument/2006/relationships/notesMaster" Target="/ppt/notesMasters/notesMaster1.xml" Id="R675f69d229404d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c636ead2d5423f" /><Relationship Type="http://schemas.openxmlformats.org/officeDocument/2006/relationships/notesMaster" Target="/ppt/notesMasters/notesMaster1.xml" Id="R7482e3ca31f640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922bb22e4746eb" /><Relationship Type="http://schemas.openxmlformats.org/officeDocument/2006/relationships/notesMaster" Target="/ppt/notesMasters/notesMaster1.xml" Id="Raa0e1165793544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1383c5d38743af" /><Relationship Type="http://schemas.openxmlformats.org/officeDocument/2006/relationships/notesMaster" Target="/ppt/notesMasters/notesMaster1.xml" Id="Re868146f68c542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7744d031af48a3" /><Relationship Type="http://schemas.openxmlformats.org/officeDocument/2006/relationships/notesMaster" Target="/ppt/notesMasters/notesMaster1.xml" Id="R01677c97cd6f42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e16d6684044ac9" /><Relationship Type="http://schemas.openxmlformats.org/officeDocument/2006/relationships/notesMaster" Target="/ppt/notesMasters/notesMaster1.xml" Id="R8b7307764adb42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6a6123890843dc" /><Relationship Type="http://schemas.openxmlformats.org/officeDocument/2006/relationships/notesMaster" Target="/ppt/notesMasters/notesMaster1.xml" Id="R849f48e587d340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88acdba900456a" /><Relationship Type="http://schemas.openxmlformats.org/officeDocument/2006/relationships/notesMaster" Target="/ppt/notesMasters/notesMaster1.xml" Id="Rcb825db60bd94e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415243ab65406c" /><Relationship Type="http://schemas.openxmlformats.org/officeDocument/2006/relationships/notesMaster" Target="/ppt/notesMasters/notesMaster1.xml" Id="Ra9e94312307748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这份方案回答两个问题：第一，商户知识如何经过治理变成可运行、可测试、可回滚的能力；第二，大量版本、会话和反馈数据分别存在哪里。核心不是把文档转换一次，而是建立证据、KU Revision、CA Version、Release 之间可追溯的链路。整套方案保留 Mastra 与 LangGraph，重点补齐治理流程和数据边界。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/Users/club/project/flyranking/xiaofei/xiaofei-main/docs/xiaofei-ku-ca-mastra-langgraph-implementation.md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先说明为什么需要版本治理。系统接收的平台案例、商户文档和会话反馈都在不断变化，如果运行时只读取最新 KU，就无法定位某个回答当时使用了什么，也无法安全回滚。因此我们把编辑态和运行态彻底分开：Draft 服务协作，Revision 与 Version 服务审核和复现，Release 服务上线与回滚。逐句反馈也不能直接改线上，只能进入新的候选版本。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/Users/club/project/flyranking/xiaofei/xiaofei-main/docs/xiaofei-ku-ca-mastra-langgraph-implementation.md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这是一条从证据到运行的主链路。来源先形成不可变 Source Version，解析和质量诊断后形成可审核 KU Revision；多个确定 KU 再由编译器生成 CA Version，经过 Sandbox 和 Eval 后发布。运行中的会话固定 Release。知识质量反馈和逐句反馈不会建立两套流程，而是统一进入根因、Patch 和 ChangeSet，再回到对应 Draft，生成新版本并回归。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/Users/club/project/flyranking/xiaofei/xiaofei-main/docs/xiaofei-ku-ca-mastra-langgraph-implementation.md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四层版本解决不同问题。Draft 允许反复编辑，因此每次保存不产生正式版本；提交 KU 审核时复制完整内容和证据形成不可变 Revision；编译候选能力时，把选中的 KU、LangGraph、Mastra 和安全策略统一固化成 CA Version；最后 Release 记录上线范围、审批和回滚目标。这样既不会版本爆炸，也不会丢失关键治理节点。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/Users/club/project/flyranking/xiaofei/xiaofei-main/docs/xiaofei-ku-ca-mastra-langgraph-implementation.md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商户上传完成并不代表知识可用。系统先固定 Source Version，然后从解析、事实完整性、冲突、歧义、权限和可测试性多个角度生成结构化问题。能确定的自动修复并展示 Diff，不能确定的交给商户确认。发布阻塞项必须是数据库可查询字段，不能只存在模型解释里。只有证据可定位、必须由用户确认的问题关闭后，内容才进入 KU 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/Users/club/project/flyranking/xiaofei/xiaofei-main/docs/xiaofei-ku-ca-mastra-langgraph-implementation.md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 的长期身份和正式版本需要分开。逻辑 KU 保存当前 Draft、编辑版本和它从哪个 Revision 派生；提交审核时生成不可变 Revision，并把完整 KU 内容、hash、schema 和证据快照一起保存。由于第一阶段 Entry 不单独建立 Revision，证据快照必须带 Entry 版本和原文位置，避免以后重新解析后丢失历史依据。审核要求改内容时，不直接改 Revision，而是回到 Draft 再提交。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/Users/club/project/flyranking/xiaofei/xiaofei-main/docs/xiaofei-ku-ca-mastra-langgraph-implementation.md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 Version 必须是一份完整的运行快照，而不是当前 KU ID 列表。编译器接收明确的 KU Revision、平台基线、商户覆盖、LangGraph、Mastra、工具、Guardrail 和 Eval 数据集，先做冲突和兼容检查，再同时写入 Manifest 与 KU 关系表。关系表用于影响分析，Manifest 用于一次加载和复现。某个 KU 更新后，旧 CA Version 仍保持不变，只提示可以生成升级候选。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/Users/club/project/flyranking/xiaofei/xiaofei-main/docs/xiaofei-ku-ca-mastra-langgraph-implementation.md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逐句反馈需要保存用户看到的原回答 hash 和文本范围。系统读取该轮实际命中的 KU、状态变化、模型与 Guardrail，先判断知识是否正确，再判断选择和生成是否正确。不同根因回到不同 Draft：事实问题改 KU，路由和状态问题改 CA，测试预期错误只改 Eval Case。用户接受的 Patch 进入 ChangeSet，之后重新生成版本并运行目标、影响和安全回归。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/Users/club/project/flyranking/xiaofei/xiaofei-main/docs/xiaofei-ku-ca-mastra-langgraph-implementation.md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 分为确定性结构、KU 选择与状态、回答质量、安全和线上效果。模型评审可以辅助评价表达，但不能单独决定权限、Owner 或高风险动作是否正确。发布门禁还必须确认版本完整、质量阻塞关闭、回归满足阈值、人工验收和回滚目标存在。Release 可以逐步从 shadow 到 assist 再到 active，回滚只切换 Binding 指针，不删除任何历史版本。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/Users/club/project/flyranking/xiaofei/xiaofei-main/docs/xiaofei-ku-ca-mastra-langgraph-implementation.md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存储不应全部塞进 PostgreSQL，也不能把向量库当成事实源。Neon 保存版本关系、审核、发布指针和在线 ConversationState；原始文件、大型 Trace、模型输入输出放对象存储；全文和向量只是从确定 KU Revision 生成的可重建索引；长期会话和效果指标进入分析与冷数据层。所有层通过不可变 ID、hash 和 objectRef 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/Users/club/project/flyranking/xiaofei/xiaofei-main/docs/xiaofei-ku-ca-mastra-langgraph-implementation.md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核心关系必须可查询。Source Version 通过 EvidenceRef 证明 KU Revision；CA Version 通过关系表选择确定 KU；Eval 绑定 CA Version；Release 引用 CA Version；Conversation 固定 Release，并以 Turn 保存历史。常用筛选和门禁字段放普通列，完整 KU、Manifest、状态和 Diff 放 JSONB，大对象放 objectRef。这样既保留结构演进空间，也能做外键、索引和影响分析。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/Users/club/project/flyranking/xiaofei/xiaofei-main/docs/xiaofei-ku-ca-mastra-langgraph-implementation.md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P0 把 state、messages 和 traceEvents 放在 Conversation 一行 JSON 中，短期可用，但会随会话增长。目标模型保留 currentState 作为快速恢复快照，同时把每轮输入、输出、状态 hash、命中 KU 和 Trace 引用追加到 ConversationTurn。消息源的幂等键防止重复消费。迁移不需要一次完成，可以先双写 Turn，验证读取一致后再停止旧数组增长。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/Users/club/project/flyranking/xiaofei/xiaofei-main/docs/xiaofei-ku-ca-mastra-langgraph-implementation.md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实施不需要推翻当前框架。第一阶段先固定来源证据、KU Revision 和 CA Manifest；第二阶段让运行从 Release 解析确定版本，并补 Turn、Outbox 和回滚；第三阶段完善质量问题、Sandbox、逐句反馈和 Eval；最后再做平台基线升级、向量检索和效果指标。子对象独立版本、Graph 编辑器和复杂 DAG 都可以延后，不影响核心闭环。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/Users/club/project/flyranking/xiaofei/xiaofei-main/docs/xiaofei-ku-ca-mastra-langgraph-implementation.md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第一阶段的验收标准不是完成多少页面或上传接口，而是让平台基线、商户导入、质量处理、KU 审核、CA 编译、多轮测试、逐句反馈、回归、发布和回滚真实走通。任何一步都应该能回答：它依据了哪个版本，谁确认了什么，以及出现问题后如何复现和回退。只有这条闭环跑通，后续 Harness 调优才有可靠的数据基础。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/Users/club/project/flyranking/xiaofei/xiaofei-main/docs/xiaofei-ku-ca-mastra-langgraph-implementation.md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639b3843846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34e6b2e89e49ad" /><Relationship Type="http://schemas.openxmlformats.org/officeDocument/2006/relationships/slideLayout" Target="/ppt/slideLayouts/slideLayout1.xml" Id="R4cdec61dbb334e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dec61dbb334e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5f1387ebc4502" /><Relationship Type="http://schemas.openxmlformats.org/officeDocument/2006/relationships/notesSlide" Target="/ppt/notesSlides/notesSlide1.xml" Id="Rf13f891169d847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1a595b986434c" /><Relationship Type="http://schemas.openxmlformats.org/officeDocument/2006/relationships/notesSlide" Target="/ppt/notesSlides/notesSlide2.xml" Id="R81f8a8eef1564c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e5b836d334eca" /><Relationship Type="http://schemas.openxmlformats.org/officeDocument/2006/relationships/notesSlide" Target="/ppt/notesSlides/notesSlide3.xml" Id="Rd42d2f625d3441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ad603dfae4175" /><Relationship Type="http://schemas.openxmlformats.org/officeDocument/2006/relationships/notesSlide" Target="/ppt/notesSlides/notesSlide4.xml" Id="Rd23b763c9fb844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1d1c563854534" /><Relationship Type="http://schemas.openxmlformats.org/officeDocument/2006/relationships/notesSlide" Target="/ppt/notesSlides/notesSlide5.xml" Id="Rcbb03ae518ff42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5013608b648f2" /><Relationship Type="http://schemas.openxmlformats.org/officeDocument/2006/relationships/notesSlide" Target="/ppt/notesSlides/notesSlide6.xml" Id="Rd8acc4eb37394b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9492b87544454" /><Relationship Type="http://schemas.openxmlformats.org/officeDocument/2006/relationships/notesSlide" Target="/ppt/notesSlides/notesSlide7.xml" Id="Rc2bed05cdbf54d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cda37b7b84c93" /><Relationship Type="http://schemas.openxmlformats.org/officeDocument/2006/relationships/notesSlide" Target="/ppt/notesSlides/notesSlide8.xml" Id="R2ddad7c0f67440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71029c6784668" /><Relationship Type="http://schemas.openxmlformats.org/officeDocument/2006/relationships/notesSlide" Target="/ppt/notesSlides/notesSlide9.xml" Id="R4b1334c24a7c41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9093e005c480b" /><Relationship Type="http://schemas.openxmlformats.org/officeDocument/2006/relationships/notesSlide" Target="/ppt/notesSlides/notesSlide10.xml" Id="Rb176a2a3db2e42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b558c5eae4dae" /><Relationship Type="http://schemas.openxmlformats.org/officeDocument/2006/relationships/notesSlide" Target="/ppt/notesSlides/notesSlide11.xml" Id="Rc135b8866fa447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fb22abc95458e" /><Relationship Type="http://schemas.openxmlformats.org/officeDocument/2006/relationships/notesSlide" Target="/ppt/notesSlides/notesSlide12.xml" Id="R082078ab4f5e46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09528d85d4360" /><Relationship Type="http://schemas.openxmlformats.org/officeDocument/2006/relationships/notesSlide" Target="/ppt/notesSlides/notesSlide13.xml" Id="Rf4b88f74ef834d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8a5a5e40b4a55" /><Relationship Type="http://schemas.openxmlformats.org/officeDocument/2006/relationships/notesSlide" Target="/ppt/notesSlides/notesSlide14.xml" Id="Recd7c4bb590a4a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31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D59A2-BAF4-4D93-97EA-0C0E92BA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5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C3750-A98D-493B-9535-F2FE38A9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001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小飞 KU → 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17A06-96A9-4722-ACE3-06A8731D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812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0">
                <a:solidFill>
                  <a:srgbClr val="DCE5EA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DCE5EA"/>
                </a:solidFill>
                <a:latin typeface="PingFang SC"/>
                <a:ea typeface="PingFang SC"/>
                <a:cs typeface="PingFang SC"/>
              </a:rPr>
              <a:t>治理流程与数据存储实施方案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D0E6A-ACBF-4F36-B3B5-FE50AB4B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BFD3C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FD3CF"/>
                </a:solidFill>
                <a:latin typeface="PingFang SC"/>
                <a:ea typeface="PingFang SC"/>
                <a:cs typeface="PingFang SC"/>
              </a:rPr>
              <a:t>Mastra + LangGraph · Neon/PostgreSQL · 版本化反馈闭环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48E0D-F419-4FFF-B712-6E2E3F6D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2435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B8A"/>
          </a:solidFill>
          <a:ln xmlns:a="http://schemas.openxmlformats.org/drawingml/2006/main" w="0">
            <a:solidFill>
              <a:srgbClr val="668B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FC7B3-92DA-4DC8-AA67-A3F26A92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2435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B8A"/>
          </a:solidFill>
          <a:ln xmlns:a="http://schemas.openxmlformats.org/drawingml/2006/main" w="0">
            <a:solidFill>
              <a:srgbClr val="668B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108C9-23BC-4D7B-B19C-625D7365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2435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B8A"/>
          </a:solidFill>
          <a:ln xmlns:a="http://schemas.openxmlformats.org/drawingml/2006/main" w="0">
            <a:solidFill>
              <a:srgbClr val="668B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80413-EE98-4605-AC58-991D017F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93D57"/>
          </a:solidFill>
          <a:ln xmlns:a="http://schemas.openxmlformats.org/drawingml/2006/main" w="9525">
            <a:solidFill>
              <a:srgbClr val="668B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B3AAA-FAE7-41F1-9749-42106F60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142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6E6D2-846B-480F-9626-D17DFB97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95750"/>
            <a:ext cx="1809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93D57"/>
          </a:solidFill>
          <a:ln xmlns:a="http://schemas.openxmlformats.org/drawingml/2006/main" w="9525">
            <a:solidFill>
              <a:srgbClr val="668B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C740F-BA01-4761-8CE4-925F57B5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957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KU Revision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65220-374C-43A0-B2AB-271DB776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95750"/>
            <a:ext cx="1809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93D57"/>
          </a:solidFill>
          <a:ln xmlns:a="http://schemas.openxmlformats.org/drawingml/2006/main" w="9525">
            <a:solidFill>
              <a:srgbClr val="668B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0F792-283E-4089-BDBF-A37758D3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957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 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F8D0F-EAC9-4FA2-B379-625EED99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95750"/>
            <a:ext cx="1809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56E6B"/>
          </a:solidFill>
          <a:ln xmlns:a="http://schemas.openxmlformats.org/drawingml/2006/main" w="9525">
            <a:solidFill>
              <a:srgbClr val="668B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0E74C-936E-4D8D-89D7-0AFF6D38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957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57D0D-14DF-437D-8224-3F2176FC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0198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FB0B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FB0BE"/>
                </a:solidFill>
                <a:latin typeface="PingFang SC"/>
                <a:ea typeface="PingFang SC"/>
                <a:cs typeface="PingFang SC"/>
              </a:rPr>
              <a:t>当前实施基线 · 2026.08</a:t>
            </a:r>
          </a:p>
        </p:txBody>
      </p:sp>
    </p:spTree>
    <p:extLst>
      <p:ext uri="{BB962C8B-B14F-4D97-AF65-F5344CB8AC3E}">
        <p14:creationId xmlns:p14="http://schemas.microsoft.com/office/powerpoint/2010/main" val="20145070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943A72-8707-4B14-9A34-5A5910BA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F37CE-A9B1-4BB7-A3A8-219217AF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"/>
            <a:ext cx="1032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真正的难点不是解析，而是控制每次改变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2556F-2BB5-4CC8-8206-89CA38A6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8"/>
          </a:solidFill>
          <a:ln xmlns:a="http://schemas.openxmlformats.org/drawingml/2006/main" w="0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3F421-BAB8-45C9-9B46-5AD3E339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任何一次知识、路由或提示调整，都可能改变整体回答与会话状态。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C6404-C34C-46B0-9B6A-2400AC1B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rPr>
              <a:t>XIAOFEI · KU → 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24BF1-B551-4648-9C45-2DCE4C83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88ECB-1463-4459-90E4-1F79CA12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62250"/>
            <a:ext cx="5334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AEA74-5EEF-4747-96E4-066BB1BA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6098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E7D4C-67C9-491D-BFC0-9A09DC02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F31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314A"/>
                </a:solidFill>
                <a:latin typeface="PingFang SC"/>
                <a:ea typeface="PingFang SC"/>
                <a:cs typeface="PingFang SC"/>
              </a:rPr>
              <a:t>输入持续变化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607F7-42DC-4B7B-B994-874E3C90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419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平台案例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商户文档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用户补充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真实会话反馈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6CDBF-8E54-490F-9596-E67A0202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24000"/>
            <a:ext cx="37338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BB0A8-8D18-4F41-B695-691F12B7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5811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文档 → KU → 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59E2C-96D5-4B33-831F-4A91155A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05000"/>
            <a:ext cx="3543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若只保留“最新结果”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就无法回答：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• 当时依据了哪份知识？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• 哪次修改导致了回归？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• 线上会话如何复现？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63905-479B-4726-9208-0518E96D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4099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F314A"/>
          </a:solidFill>
          <a:ln xmlns:a="http://schemas.openxmlformats.org/drawingml/2006/main" w="0">
            <a:solidFill>
              <a:srgbClr val="1F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9BFFD-F4B0-4E4C-B16D-18ED9D4A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66900"/>
            <a:ext cx="321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必须补上的治理能力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B33DF-0D12-4D9C-8E40-50B6EDB1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219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DCE5E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CE5EA"/>
                </a:solidFill>
                <a:latin typeface="PingFang SC"/>
                <a:ea typeface="PingFang SC"/>
                <a:cs typeface="PingFang SC"/>
              </a:rPr>
              <a:t>版本固定 · 质量门禁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DCE5E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CE5EA"/>
                </a:solidFill>
                <a:latin typeface="PingFang SC"/>
                <a:ea typeface="PingFang SC"/>
                <a:cs typeface="PingFang SC"/>
              </a:rPr>
              <a:t>Sandbox · 逐句反馈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DCE5E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CE5EA"/>
                </a:solidFill>
                <a:latin typeface="PingFang SC"/>
                <a:ea typeface="PingFang SC"/>
                <a:cs typeface="PingFang SC"/>
              </a:rPr>
              <a:t>影响分析 · Eval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DCE5E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CE5EA"/>
                </a:solidFill>
                <a:latin typeface="PingFang SC"/>
                <a:ea typeface="PingFang SC"/>
                <a:cs typeface="PingFang SC"/>
              </a:rPr>
              <a:t>发布 · 回滚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F5844-7468-44EE-8576-D9F7B561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E4E0"/>
          </a:solidFill>
          <a:ln xmlns:a="http://schemas.openxmlformats.org/drawingml/2006/main" w="9525">
            <a:solidFill>
              <a:srgbClr val="D7B5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6437A-A9F2-4882-A2FD-C491DBBD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A7574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7574E"/>
                </a:solidFill>
                <a:latin typeface="PingFang SC"/>
                <a:ea typeface="PingFang SC"/>
                <a:cs typeface="PingFang SC"/>
              </a:rPr>
              <a:t>设计结论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1EF5C-3DA1-4FAB-849C-5BD0630D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5775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Draft 可变；Revision / Version / Release 不可被内容覆盖；反馈只能生成候选修改。</a:t>
            </a:r>
          </a:p>
        </p:txBody>
      </p:sp>
    </p:spTree>
    <p:extLst>
      <p:ext uri="{BB962C8B-B14F-4D97-AF65-F5344CB8AC3E}">
        <p14:creationId xmlns:p14="http://schemas.microsoft.com/office/powerpoint/2010/main" val="9715120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E3ED07-8794-42AE-BB86-BD94C645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A5366-8700-4A43-A09E-4AE945D9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"/>
            <a:ext cx="1032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一条主流程，把两个反馈入口收回版本闭环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BDC26-43FC-481D-8004-552141B0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8"/>
          </a:solidFill>
          <a:ln xmlns:a="http://schemas.openxmlformats.org/drawingml/2006/main" w="0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6FEC5-0828-486A-A52C-ED5F78E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知识质量反馈与会话反馈最终都回到 Draft，但根因决定修改 KU、CA 还是 Eval。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8DE3C-8D64-4E2A-A788-C3DD4551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rPr>
              <a:t>XIAOFEI · KU → 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DB4B3-0D44-472D-83F3-4BEC48C4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812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099C4-F64B-4926-B82B-3074CCE3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812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9300E-E47B-4381-BE90-A307B37E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8E290-A73A-4862-9A52-964446E8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812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6566E-B58E-4F6B-84CB-EA4A7FB4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CCA12-80E3-4E76-96F4-AF853DB7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3812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CA253-3342-4473-9FC1-3703B0DF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9E553-E91D-4B0C-B637-38780F56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52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AB8AD-7688-4801-9EF4-F0A1E464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52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796F8-47A4-4CB3-A560-426A752C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来源 / 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37F4E-645A-4B16-AA79-59C73CE4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不可变 Source 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51F5B-FFFB-4DA3-A05D-B5800AB4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90500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68086-0D17-4C40-B918-1837A7E1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52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61912-9ACF-4668-A15E-B6BFB3E7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52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3F2535-AB87-42C0-BB2C-3112F901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1526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解析 / 诊断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C0EE6-0125-4639-9B5A-D90C91BA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5431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Entry + Quality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8457A-2059-4D1C-A03D-F847345C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0500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2F38D9-2DAE-4B40-8D16-8B3AEC1B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52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B55362-FACE-428F-A35C-B400582C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52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7FCA21-1B31-4FB5-9E62-46BF2373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526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KU 治理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F1C453-F7B6-4DA7-884E-7621C890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431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Approved Revision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EE4479-E352-49FA-9F3F-704012A4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0500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A89AD9-4843-4C2B-8F28-B5CE1836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752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B6F06C-F5CB-4B9D-BE5D-8FF1EDD3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752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4020B4-3A11-4EDE-8951-5768F986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1526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CA 编译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0A9F91-E52F-426F-AAA0-1C2E385C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431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Manifest + Version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08D4F8-E452-4ED2-B76E-9FDF6D4A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0500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0A8A1B-A9A7-4DB2-A41A-37FB86F8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52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C91F4C-631B-4CFB-8CCF-39C4EF40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52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F3E201-2DEF-401C-9571-B6B8191A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Sandbox / Eval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E7A57B-5234-42B6-969C-B925816F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431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多轮测试与门禁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EBA7E7-9BA1-4DDC-9D14-43400897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90500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356E6B"/>
          </a:solidFill>
          <a:ln xmlns:a="http://schemas.openxmlformats.org/drawingml/2006/main" w="9525">
            <a:solidFill>
              <a:srgbClr val="356E6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7FF9B2-9E37-4F07-B4C7-9D754FB3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52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14A"/>
          </a:solidFill>
          <a:ln xmlns:a="http://schemas.openxmlformats.org/drawingml/2006/main" w="0">
            <a:solidFill>
              <a:srgbClr val="1F31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F5BE2D-CBF4-47CA-87E3-71CA4AEE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52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A995B0-F648-4783-BA17-E45449DF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526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发布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0AA96C-E9AB-4DE1-B6E1-9C3A42D7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431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D9E7E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9E7E4"/>
                </a:solidFill>
                <a:latin typeface="PingFang SC"/>
                <a:ea typeface="PingFang SC"/>
                <a:cs typeface="PingFang SC"/>
              </a:rPr>
              <a:t>Release + Binding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599781-21A0-473D-8300-EE9577F1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0500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5982BF-4A0B-4675-846A-83A4781F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752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EF26E0-04E9-4FFA-B672-351A57B4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752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DE53F8-D0C2-417C-8369-C2B36DA1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526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运行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3773AD-9B22-4A45-9137-96CD5BF5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431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固定版本的会话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987B89-6C16-4D63-820E-B483A791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86125"/>
            <a:ext cx="20955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EAEB81-7266-48DE-8AC6-1388D2F0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86250"/>
            <a:ext cx="53340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D52523-7E9B-48A4-B9E7-1FCD1A61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33800"/>
            <a:ext cx="76390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9A930B-FAF4-48F7-9EC3-39E76898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反馈治理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373114-E45A-4284-8945-95BB4A54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693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知识质量问题 / 逐句标注 → 根因定位 → Patch Proposal → ChangeSet → 新 KU Revision / CA Version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A84F35-5B35-4AFF-A87C-407B0AC2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693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目标 Case 通过后仍需运行受影响集合、商户 Golden Case 和平台安全集。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46F285-4998-4B1C-9372-9D731209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581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回到对应 Draft</a:t>
            </a:r>
          </a:p>
        </p:txBody>
      </p:sp>
    </p:spTree>
    <p:extLst>
      <p:ext uri="{BB962C8B-B14F-4D97-AF65-F5344CB8AC3E}">
        <p14:creationId xmlns:p14="http://schemas.microsoft.com/office/powerpoint/2010/main" val="18577813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6D2699-DF10-4050-B1FF-8B6FC466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DD223-1921-4B19-8D34-0340FDDE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"/>
            <a:ext cx="1032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四层对象各司其职：编辑、审核、运行、上线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E29A9-D97A-4DB1-804D-DD975163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8"/>
          </a:solidFill>
          <a:ln xmlns:a="http://schemas.openxmlformats.org/drawingml/2006/main" w="0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D1A79-0391-4C03-BCA5-F41658EF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版本不是每次保存都创建；只有跨越治理边界时才生成正式记录。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A68A8-7FFA-4E11-8F73-BC3F471F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rPr>
              <a:t>XIAOFEI · KU → 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75BBA-13EE-4F5B-8630-2D101E80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05050"/>
            <a:ext cx="2667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24903-2FA8-41AA-88AA-33ABEBF9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48050"/>
            <a:ext cx="2667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BBA96-19DA-498C-B01F-2E2B907D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91050"/>
            <a:ext cx="2667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7463F-CDCA-4167-96E4-8F5256F2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914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DF276-2D4A-4AD7-8611-948AB2B5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383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Draft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98D9C-7F63-4CA5-9120-D2B72718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38300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持续编辑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EAD8A-5B84-4A33-83BB-7C7C7B36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38300"/>
            <a:ext cx="3257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currentDraft + draftVersion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ADBD3-9969-4B38-90D7-DAAAECB7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3830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不进入运行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FD1E3-BDBF-4835-9022-6937D68E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47950"/>
            <a:ext cx="914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F82FC-94BB-4197-9E74-7B005DC7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813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KU Revision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29F21C-EF32-412A-8A68-C1071CB2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提交审核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E6677-C205-41F3-9127-4CF973FD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81300"/>
            <a:ext cx="3257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完整 KU + 证据快照 + contentHash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961B0-8EB1-4541-B7A8-0C78269D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CA 选择的知识单位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41D57-66D7-4BBE-860E-5B065C51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90950"/>
            <a:ext cx="914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E53C6-5A31-4A0F-9B46-9D7CDCCB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243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CA Version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C9CD7A-C248-4382-AD93-113F27D4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24300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点击编译候选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B8063-1800-4CE4-AF72-F574F8C8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24300"/>
            <a:ext cx="3257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Manifest + 固定 KU Revision 集合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AFFDA-ADF8-413E-9373-610B6CE9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2430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Sandbox / Eval 的运行单位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29291-9E07-47F7-9E46-FFC8AEB8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914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F314A"/>
          </a:solidFill>
          <a:ln xmlns:a="http://schemas.openxmlformats.org/drawingml/2006/main" w="9525">
            <a:solidFill>
              <a:srgbClr val="1F31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D0F73-E9E4-4CE7-9625-80420737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673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BFD3C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FD3CF"/>
                </a:solidFill>
                <a:latin typeface="PingFang SC"/>
                <a:ea typeface="PingFang SC"/>
                <a:cs typeface="PingFang SC"/>
              </a:rPr>
              <a:t>Release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99B116-07ED-44D2-B51E-B72A413B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67300"/>
            <a:ext cx="1752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评测和审批通过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32C108-2A05-4CCA-B1DF-D21D6032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67300"/>
            <a:ext cx="3257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CA Version + rollout + approval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065C45-7819-4655-B555-6BF28855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6730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Binding、灰度与回滚单位</a:t>
            </a:r>
          </a:p>
        </p:txBody>
      </p:sp>
    </p:spTree>
    <p:extLst>
      <p:ext uri="{BB962C8B-B14F-4D97-AF65-F5344CB8AC3E}">
        <p14:creationId xmlns:p14="http://schemas.microsoft.com/office/powerpoint/2010/main" val="17749295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02B8B2-E124-43BF-AEEF-2AD9B098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FBFF0-E6C3-4244-ABAE-D01B4B15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"/>
            <a:ext cx="1032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商户上传只是开始，质量问题决定能否进入 KU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A97CF-09A7-47FD-BEDA-2416DF8D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8"/>
          </a:solidFill>
          <a:ln xmlns:a="http://schemas.openxmlformats.org/drawingml/2006/main" w="0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2D49E-AEB0-49FB-8765-B5649908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不使用单一质量分数；每个问题都要有证据、责任人、处理方式和发布影响。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4E11B-CB78-4B7B-A1E3-800A2C50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rPr>
              <a:t>XIAOFEI · KU → 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ED019-D805-4D35-B83E-25F491E7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43175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FAC79-975E-4840-86CE-B4E586D3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43175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B605C-98B7-469E-A491-1D41D0C5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0574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99BEC-E23B-4032-8D86-473C5CB5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Source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B5680-BE9E-4470-B4E3-756E66D2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8669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文件 / 网页 / Q&amp;A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内容 hash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原文位置与对象引用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08E76-84F4-48DF-AE50-6DE5593A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466850"/>
            <a:ext cx="33909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C261F-0D8E-4354-AF30-E8CDF9B9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质量诊断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BE770-BF9E-4A73-AB0C-5D5E31E3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52650"/>
            <a:ext cx="1371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3B21B-BEA3-419D-8AA4-3B8D24BE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5265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解析 / 可追溯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01D029-5969-4C41-8EF5-A0E2C87C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52650"/>
            <a:ext cx="1371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9B571-5975-4D2F-9CBF-38665927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5265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完整性 / 冲突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24FEA-5D88-4DC4-9F7C-7715A283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1371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98A89-EDB9-4151-8CCF-A80CC514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575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歧义 / 权限风险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13E7A-3D4D-4818-B1B7-FA4A1FA5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1371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69373-37DF-455D-AF4C-7E1F2548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流程 / 可测试性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708C1-103B-447C-8898-99BA0967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66850"/>
            <a:ext cx="44958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14880-C94F-4E6A-A964-29CD11AF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F314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F314A"/>
                </a:solidFill>
                <a:latin typeface="PingFang SC"/>
                <a:ea typeface="PingFang SC"/>
                <a:cs typeface="PingFang SC"/>
              </a:rPr>
              <a:t>分级处理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58DCD5-F413-4219-AB0C-B8FA657A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14550"/>
            <a:ext cx="144780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0">
            <a:solidFill>
              <a:srgbClr val="E3EE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0E0B1-FE69-4F87-B93F-7B8BCDBC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145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AUTO FIX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F6EA6D-33F5-4A02-BCBD-A4773F9C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14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确定性修复 + Diff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756AB2-EF65-489C-8C4B-689B8907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33650"/>
            <a:ext cx="144780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0F2"/>
          </a:solidFill>
          <a:ln xmlns:a="http://schemas.openxmlformats.org/drawingml/2006/main" w="0">
            <a:solidFill>
              <a:srgbClr val="EEF0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95885A-37DF-40EA-9648-43322438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336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1F314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F314A"/>
                </a:solidFill>
                <a:latin typeface="PingFang SC"/>
                <a:ea typeface="PingFang SC"/>
                <a:cs typeface="PingFang SC"/>
              </a:rPr>
              <a:t>SUGGEST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4DFD57-A26A-49E2-875F-7117B990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336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候选方案，用户选择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A75DC9-8167-4B75-B508-F10EFCB2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52750"/>
            <a:ext cx="144780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E4E0"/>
          </a:solidFill>
          <a:ln xmlns:a="http://schemas.openxmlformats.org/drawingml/2006/main" w="0">
            <a:solidFill>
              <a:srgbClr val="F2E4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30739F-BADD-412D-9672-4304C9C6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527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A7574E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A7574E"/>
                </a:solidFill>
                <a:latin typeface="PingFang SC"/>
                <a:ea typeface="PingFang SC"/>
                <a:cs typeface="PingFang SC"/>
              </a:rPr>
              <a:t>USER REQUIRED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4EF74B-67A5-4F9D-9182-ABDBE787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52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必须补充或确认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DA3CE8-B51D-4FAA-941F-EC7691F4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71850"/>
            <a:ext cx="144780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F314A"/>
          </a:solidFill>
          <a:ln xmlns:a="http://schemas.openxmlformats.org/drawingml/2006/main" w="0">
            <a:solidFill>
              <a:srgbClr val="1F31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4CFE9A-C7A1-4D5F-AB5A-5C9D4646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718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RELEASE BLOCKER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121EEC-3EB1-4190-AB6A-1C6CF8C3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718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未关闭不得发布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07D1E8-65A5-4517-9F11-53184FE2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F314A"/>
          </a:solidFill>
          <a:ln xmlns:a="http://schemas.openxmlformats.org/drawingml/2006/main" w="0">
            <a:solidFill>
              <a:srgbClr val="1F3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9567AA-F379-4650-B13B-CD1E0533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BFD3C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FD3CF"/>
                </a:solidFill>
                <a:latin typeface="PingFang SC"/>
                <a:ea typeface="PingFang SC"/>
                <a:cs typeface="PingFang SC"/>
              </a:rPr>
              <a:t>进入 KU 的门禁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77FD9A-2048-40A1-982A-834A663E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29150"/>
            <a:ext cx="796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关键证据可定位  ·  USER REQUIRED 已关闭  ·  KU Blocker 已关闭  ·  商户补充已结构化保存</a:t>
            </a:r>
          </a:p>
        </p:txBody>
      </p:sp>
    </p:spTree>
    <p:extLst>
      <p:ext uri="{BB962C8B-B14F-4D97-AF65-F5344CB8AC3E}">
        <p14:creationId xmlns:p14="http://schemas.microsoft.com/office/powerpoint/2010/main" val="98356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F9D307-2F54-46D3-BC0A-AF483636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E27E8-CD8B-4633-A3A4-8CB56FCF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"/>
            <a:ext cx="1032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KU 用长期身份承接迭代，用 Revision 固定每次审核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79241-6272-453B-A31A-783F9DD4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8"/>
          </a:solidFill>
          <a:ln xmlns:a="http://schemas.openxmlformats.org/drawingml/2006/main" w="0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7DDCF-0117-47DA-80D8-EF097BA0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逻辑 KU 不指向“线上最新”；线上使用哪个 Revision 由 CA Version 决定。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06670-7D9C-4E7D-9C9C-80640F1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rPr>
              <a:t>XIAOFEI · KU → 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C4FA4-540C-4765-92D3-4A7E09ED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A6736-30F4-4881-B7CD-E0ADA579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17F78-96C0-488A-B238-0748F58C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6670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878DB-7CB1-4DA4-89CE-65E5220C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KnowledgeUnit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27758-3EE1-4DA8-86A4-F1A973C0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476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kuId / code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currentDraft JSONB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draftHash / draftVersion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baseRevisionId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draftStatus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E16AD-FE1A-44AF-A4C8-94A4B4AD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47800"/>
            <a:ext cx="39624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03744-69C0-4103-A5F1-1FA2BC4A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811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F314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F314A"/>
                </a:solidFill>
                <a:latin typeface="PingFang SC"/>
                <a:ea typeface="PingFang SC"/>
                <a:cs typeface="PingFang SC"/>
              </a:rPr>
              <a:t>不可变 Revision 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1F386-F216-454C-B07A-1C69FD51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33600"/>
            <a:ext cx="33528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A167A-51EE-4BE5-A8AC-1A540C98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336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Revision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F570F-5DFD-49F4-8DCC-D7E75080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33600"/>
            <a:ext cx="1695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pending · hash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2FD82-15B7-4288-9E54-F9A102F8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33528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4FF37-AFC8-4113-AA6D-4970A7E6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Revision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7783D-3166-492A-AC91-E26C576D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19400"/>
            <a:ext cx="1695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approved · hash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E858A-91D6-40D3-B4FF-1776B3CF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05200"/>
            <a:ext cx="33528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4CAF6-426C-4F43-86BA-C5473091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05200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Revision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B5533-8E05-4401-83D8-4ECA2641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05200"/>
            <a:ext cx="1695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approved · hash 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F63C8-9CE1-4919-8A6A-5EE3CD43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9100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完整 content + schema + parent + contentHash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258EB3-A416-480E-B7BF-2320596E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2766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42841B-11B3-4AB2-9F59-537ABCD6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716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F314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F314A"/>
                </a:solidFill>
                <a:latin typeface="PingFang SC"/>
                <a:ea typeface="PingFang SC"/>
                <a:cs typeface="PingFang SC"/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1D1BAE-BD58-4B42-B06F-978E55CE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3086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sourceVersionId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entryId / entryVersion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页码 / 标题 / 字符范围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quoteHash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evidenceSnapshot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BDA53E-D5E0-44D7-9D51-7D120823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FD2FA-62FE-426A-82AC-0CCE85C9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提交规则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1B8FA0-BB4B-46B9-893B-4E62D46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29200"/>
            <a:ext cx="899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乐观锁校验 → Canonical JSON → hash 幂等去重 → 复制完整内容与证据 → 生成 pending Revision</a:t>
            </a:r>
          </a:p>
        </p:txBody>
      </p:sp>
    </p:spTree>
    <p:extLst>
      <p:ext uri="{BB962C8B-B14F-4D97-AF65-F5344CB8AC3E}">
        <p14:creationId xmlns:p14="http://schemas.microsoft.com/office/powerpoint/2010/main" val="1617279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B1CC47-AB08-4230-8572-BCCED0EB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5F8D9-A55F-416A-A278-E6231980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"/>
            <a:ext cx="1032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CA 不是一组 KU ID，而是一份可运行的完整 Manifest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91446-A19F-4EFC-B5BF-1DEF1B7C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8"/>
          </a:solidFill>
          <a:ln xmlns:a="http://schemas.openxmlformats.org/drawingml/2006/main" w="0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16D45-F887-4011-A004-BBE38B64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编译器在同一事务内生成关系表与运行快照，确保查询和运行看到同一组合。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E5ED2-79A7-4143-93A9-C86225CA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rPr>
              <a:t>XIAOFEI · KU → 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404A3-2AB2-4891-BE48-6ED43631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0500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0AF57-F4C3-43CC-8977-CC76A951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2890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19C7E-2DA5-44B3-996C-80920AE7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3CFCF-ED0D-4CE8-A5C9-CBB1A96B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76700"/>
            <a:ext cx="5143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A0A69-EB21-4092-AAFC-89101F4F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24150"/>
            <a:ext cx="609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0BDDF-504E-4DE9-92EB-C27F8C04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5336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4AF3A-EDE2-4E8B-A4DA-D0287A47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Approved KU Revisions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8D9C1-0906-4A0D-BB7E-98D81DC2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343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知识、范围、Slot、边界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E81EC-88F6-4B3F-A944-16B9D6AF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5336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91E52-1E8C-4CAD-BFA4-9B138800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Baseline + Overlay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8541C-5751-4240-9434-F6D90208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343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平台安全 + 商户覆盖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EACB4-9584-4669-91B7-BF6075EC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5336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F91D8-1BED-4665-8621-73F84B53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LangGraph / Mastra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44A6A-674F-4585-B7CC-17955A04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2343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Graph、State、生成策略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DC0815-958E-496A-BDFE-2A28BDE6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5336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409DD-A1FF-4A2F-ADEF-47A5E733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Tool / Guardrail / Eval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CB2FA5-7C36-4978-AE53-7605878F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2343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动作、权限、门禁数据集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CC812-BE7A-4A51-9B60-D0741117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04950"/>
            <a:ext cx="3657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928E02-BE72-4DF8-9164-709CACF9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954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KU → CA Compiler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F2A24-0E7E-4E54-A940-D4C1A8ED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43150"/>
            <a:ext cx="13906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D97E79-41DB-41E9-BD23-ADCF9460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431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审核与 lineage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0895E0-AFBE-4B99-A16A-D0385405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43150"/>
            <a:ext cx="13906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DDA17-31C4-46C2-A1AB-F7E418B7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431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场景冲突与优先级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35440D-3217-465E-80FC-ECEC0EDF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71800"/>
            <a:ext cx="13906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C0E070-198C-4DAB-B839-509F7316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718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Slot / 退出路径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9C9682-46FE-4E33-813D-982E0C4A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71800"/>
            <a:ext cx="13906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A67E3E-988C-4D7C-B102-18C71103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718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Tool / Guardrail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9ADDC2-9C57-4802-83F6-75106F2D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0450"/>
            <a:ext cx="13906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3152A4-A34C-48E2-93C5-72E54524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004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Graph / State 兼容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098C9D-9059-4F8F-B640-4D8F3E4C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0450"/>
            <a:ext cx="13906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9D79C6-41B1-4D93-8DAA-24B344A5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004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Eval 覆盖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18B409-C73A-47F1-B866-A39B908B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4950"/>
            <a:ext cx="35052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F314A"/>
          </a:solidFill>
          <a:ln xmlns:a="http://schemas.openxmlformats.org/drawingml/2006/main" w="0">
            <a:solidFill>
              <a:srgbClr val="1F31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F8C93A-2F3E-4CEF-A605-0AEA3D52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 Version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97B426-28BE-45A5-8FB6-EC5504AC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2705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Manifest JSONB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manifestHash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compilerVersion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stateSchemaVersion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KU Revision 关系行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推荐回归集合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224C33-DA6E-4E7E-92CE-3348D388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6D4E55-1CF2-4DEA-8F29-D76D1F7B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1032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KU 更新不会自动改变任何 CA Version；它只产生“有可用更新”和影响范围。</a:t>
            </a:r>
          </a:p>
        </p:txBody>
      </p:sp>
    </p:spTree>
    <p:extLst>
      <p:ext uri="{BB962C8B-B14F-4D97-AF65-F5344CB8AC3E}">
        <p14:creationId xmlns:p14="http://schemas.microsoft.com/office/powerpoint/2010/main" val="1280493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681B7F-BD4E-4538-BF0E-0134F130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5964D-81AD-4D7C-A94E-472AB29A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"/>
            <a:ext cx="1032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逐句反馈先定位根因，再决定修改哪一层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FEDD2-B7FC-4EB1-A980-E938C5BE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8"/>
          </a:solidFill>
          <a:ln xmlns:a="http://schemas.openxmlformats.org/drawingml/2006/main" w="0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3FEF8-DFA1-4D55-A284-F20C7C04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“这句话不对”不是知识；它是一条需要证据、归因、修改和回归的治理记录。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EDC9E-68E5-4DED-A87A-2AE9124F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rPr>
              <a:t>XIAOFEI · KU → 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7F0AD-F572-45D0-A157-F1285C0E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81225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E4267-0B79-4696-B783-DEAE070B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81225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65247-6543-43CE-AA89-8E2D987F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81225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F4579-FFAC-485E-A68D-844F955E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81225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BBA3A-7687-4AE4-8A01-F298C252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600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C3899-54A4-4BDD-8D0A-4CF59E1D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运行候选 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7FAA3-BC9B-427B-98AD-6F41AEDE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固定 CA 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854D1-89DC-4944-925B-7083907F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33550"/>
            <a:ext cx="1600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5ABD7-A725-4486-805F-DDE8246C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907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保存 TestTurn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6ABFC-0136-4623-BF17-9A73334C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输入 / 输出 / 状态 /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07073-EE55-442E-90C7-EB34A026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33550"/>
            <a:ext cx="1600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099B6-D8A6-46D2-85C6-3B61C80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逐句标注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F04C3-AE17-46B1-9303-2A44B018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responseHash + offset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454EC-F964-4D9A-9044-1781AA55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33550"/>
            <a:ext cx="1600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534BA-1B44-467F-889A-2F2C550C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907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根因定位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62240C-B2C1-4F3F-87F5-1AE69847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145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Source / KU / CA / Graph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7AA681-0A6C-4567-930E-6ED4DD08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33550"/>
            <a:ext cx="1600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BA553-E609-447A-AE21-FC2EAB31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907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Patch Proposal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47B443-008B-4B2D-A340-AF6B43EE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140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接受 / 编辑 / 拒绝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01A1A-D82D-4FB0-A7F6-D8EE5859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971800"/>
            <a:ext cx="26670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06D51C-575F-4EA3-8BB4-CE6C4FEA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10050"/>
            <a:ext cx="49530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39BE3A-C29C-4B55-AB48-CC66E0CF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10050"/>
            <a:ext cx="49530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D1F71A-084A-435B-8426-F63F1829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10050"/>
            <a:ext cx="49530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2D90E6-7D08-4A22-8A11-2CE79D47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10050"/>
            <a:ext cx="49530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3EE4FE-DDA8-4F95-95D5-D589DC4B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7335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7181CF-8667-43EB-99DF-7CF4E659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重新 Eval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0ADB46-D9C1-4357-AFE3-2E30C563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目标 + 影响 + 安全集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3E0AE2-FEE4-473E-88F3-4700EB9A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29050"/>
            <a:ext cx="17335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121572-A627-48F9-B770-44C9AB08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862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新 CA Version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996EAE-744C-445B-B488-846A4E49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100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重新编译候选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3A397B-7EDB-4788-92BC-B077A28E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29050"/>
            <a:ext cx="17335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B85C26-F663-4552-B9CC-5DE55FEB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862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新 KU Revision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FCDDBB-F67B-43D0-956D-298C7E03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100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必要时重新审核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E45AC1-1783-4FB1-8E0B-8F76B5D1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17335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423E09-7B27-4CA4-A157-A63B37ED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862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更新对应 Draft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A09955-523E-4E9D-A444-FEF0D5F0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100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KU / CA / Eval Case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FB6593-4702-4529-BA43-81ED8451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29050"/>
            <a:ext cx="17335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F314A"/>
          </a:solidFill>
          <a:ln xmlns:a="http://schemas.openxmlformats.org/drawingml/2006/main" w="9525">
            <a:solidFill>
              <a:srgbClr val="1F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2F156F-1987-4E61-8BFD-B6BD28CE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862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ChangeSet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CA51B5-609A-4DF6-B5CC-B46B9C5C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100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组合多个 Patch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B5BE14-FB3D-4640-8D85-3088C16D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E4E0"/>
          </a:solidFill>
          <a:ln xmlns:a="http://schemas.openxmlformats.org/drawingml/2006/main" w="9525">
            <a:solidFill>
              <a:srgbClr val="D7B5A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035F95-21A3-4AA1-8A72-5DCEB4BD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A7574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7574E"/>
                </a:solidFill>
                <a:latin typeface="PingFang SC"/>
                <a:ea typeface="PingFang SC"/>
                <a:cs typeface="PingFang SC"/>
              </a:rPr>
              <a:t>旧标注永远指向旧 Turn；新回答通过 Case 和 Patch 对比，不复用旧 offset。</a:t>
            </a:r>
          </a:p>
        </p:txBody>
      </p:sp>
    </p:spTree>
    <p:extLst>
      <p:ext uri="{BB962C8B-B14F-4D97-AF65-F5344CB8AC3E}">
        <p14:creationId xmlns:p14="http://schemas.microsoft.com/office/powerpoint/2010/main" val="5081501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037770-753D-4F61-8C46-7A9AC627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F8862-156C-4B75-84AC-6D5E25E5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"/>
            <a:ext cx="1032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发布不是一次按钮点击，而是可证明、可回滚的门禁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EA39F-79ED-45E0-8DC0-C59E325F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8"/>
          </a:solidFill>
          <a:ln xmlns:a="http://schemas.openxmlformats.org/drawingml/2006/main" w="0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3C9F4-6C80-4B40-A30C-11674EB7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模型评审只是证据之一；事实、权限、Owner、动作和 Handoff 必须有确定性检查。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20363-675C-4A1E-A20B-C8441CC2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rPr>
              <a:t>XIAOFEI · KU → 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6DF80-171A-4A43-94CE-3B35D46E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7655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BA4B6-59CE-44EF-BD41-95F271FA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197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BB07A-104A-489A-B74D-3C539234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F314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F314A"/>
                </a:solidFill>
                <a:latin typeface="PingFang SC"/>
                <a:ea typeface="PingFang SC"/>
                <a:cs typeface="PingFang SC"/>
              </a:rPr>
              <a:t>Eval 分层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A1463-41D7-4D11-A52D-9EB62888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1257300" cy="381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10223-5C8E-4E81-86F8-91935352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结构与版本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1ED6A-2B51-456C-88F2-3EF0C86F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717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Schema / hash / lineage / Manifest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FDFA5-557F-41AF-A3C8-4CA75B41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1257300" cy="381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9D785-BD04-4673-A0A3-9D1DFA59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KU 与状态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D9302-966A-4C28-99C5-87AFB5DB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选取 / Slot / 多轮 /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F81A3-24CA-4F21-91E0-4362BBA5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1257300" cy="381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B38EF-BE4B-43CF-AB88-DFF4BF66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回答质量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F4B017-03F3-4712-8A22-41A623CA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766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事实 / 完整 / 相关 / 语气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770C7-3E15-4ECF-B497-5DF61724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1257300" cy="381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E4E0"/>
          </a:solidFill>
          <a:ln xmlns:a="http://schemas.openxmlformats.org/drawingml/2006/main" w="9525">
            <a:solidFill>
              <a:srgbClr val="D7B5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B5C95-8728-4DC3-8DB2-BA0EDFB8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A7574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A7574E"/>
                </a:solidFill>
                <a:latin typeface="PingFang SC"/>
                <a:ea typeface="PingFang SC"/>
                <a:cs typeface="PingFang SC"/>
              </a:rPr>
              <a:t>强制安全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6C1EE-D5BF-4C8A-9883-340271DC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290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越权 / 注入 / 高风险动作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392DF-A1B5-40FB-B6EC-50A4992D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1257300" cy="381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BDECFC-0716-4A58-8F38-F5B7CE3B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线上效果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CE80F-00CE-4AF4-8334-4ED7B629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接管 / 修改 / 一次解决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A47B2-1AB6-4FB2-9AC5-88830BFB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66850"/>
            <a:ext cx="49911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F314A"/>
          </a:solidFill>
          <a:ln xmlns:a="http://schemas.openxmlformats.org/drawingml/2006/main" w="0">
            <a:solidFill>
              <a:srgbClr val="1F31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BBDCD5-33CD-4C49-B670-0D4982BD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38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Release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B526F6-FAC4-4329-ACD5-D8AB0B14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92163D-5BEE-4C96-B450-95A3A1D3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33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F314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F314A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DB34F6-2951-49B9-AED0-68A40717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版本完整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74A000-1D94-43FE-A22B-EAD87945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28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2681B-026E-40E4-807E-CBC208B1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08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F314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F314A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3316FF-19D1-48B8-8B8A-95B29218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336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质量 Blocker 关闭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B70CE2-1900-4BD1-AC65-9BB2F6C3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86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AF8684-5A32-4283-962A-69B76BC0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48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F314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F314A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8EE340-9320-429F-BA75-2D20C315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回归满足阈值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8D2CB2-664B-48C7-9830-FFEDCCF5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43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0BF70F-32C3-408C-B6AC-C45F3DC2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05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F314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F314A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AEB10E-A779-4773-B82E-CC1B2849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480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人工验收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B0DDF7-991B-4C80-A182-E3EB08BA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00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7B0661-D9C5-4C67-94D1-BAC54521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62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F314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F314A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C7E9C2-5BDE-4D34-9ECE-B0E48D91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依赖可运行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88B723-01FE-42B6-98FC-1C31E828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57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C43747-CC9E-419F-A3DD-F915F4B5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9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1F314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F314A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ACBE12-8E03-4C37-A239-FCC1262F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624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previousRelease 可用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A70AB1-CADA-4A2A-B04C-907999AF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0673E4-8DB6-4E1C-A9D1-98E7D9A7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candidate → shadow → assist → active    ｜    回滚只切换 Binding，不删除历史版本</a:t>
            </a:r>
          </a:p>
        </p:txBody>
      </p:sp>
    </p:spTree>
    <p:extLst>
      <p:ext uri="{BB962C8B-B14F-4D97-AF65-F5344CB8AC3E}">
        <p14:creationId xmlns:p14="http://schemas.microsoft.com/office/powerpoint/2010/main" val="10767286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3FDD2-1F3A-481D-820A-6ACB6F59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2098B-99CE-41A6-AFB4-93CC15E4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"/>
            <a:ext cx="1032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数据按“事实、对象、检索、分析”分层存放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6BE50-8DD5-4819-AC73-6429285A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8"/>
          </a:solidFill>
          <a:ln xmlns:a="http://schemas.openxmlformats.org/drawingml/2006/main" w="0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4E039-B705-46A7-B69F-928E19FC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PostgreSQL 是治理关系和在线状态的事实源；其余层都通过 hash 与 objectRef 关联。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BBEB6-504F-4C04-8D15-66D10580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rPr>
              <a:t>XIAOFEI · KU → 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273AD-D397-446B-8560-B3EDD2BE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0325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70811-79AF-4259-9CC4-B25C75ED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2435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05CE8-71F0-4608-9374-B2CD301B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2435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595E5-9FB5-48DF-96B0-EE7064DF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428750"/>
            <a:ext cx="86868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F314A"/>
          </a:solidFill>
          <a:ln xmlns:a="http://schemas.openxmlformats.org/drawingml/2006/main" w="0">
            <a:solidFill>
              <a:srgbClr val="1F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F9F21-3D82-4AD0-9F0C-295C12D4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00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Neon / 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D1253-481C-488F-996C-7892180A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38350"/>
            <a:ext cx="805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版本关系 · 审核门禁 · Release / Binding · ConversationState · 索引元数据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A2801-CA10-477B-A151-06E5967A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1242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963D5-1AF5-4CCE-8FB3-D73B7826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F314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F314A"/>
                </a:solidFill>
                <a:latin typeface="PingFang SC"/>
                <a:ea typeface="PingFang SC"/>
                <a:cs typeface="PingFang SC"/>
              </a:rPr>
              <a:t>对象存储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A1599-B845-4D83-A10D-61179DDD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933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原始文件 / 网页快照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大 Trace / Eval / 模型 I/O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0F4BC-7093-4A60-BC33-01B93DC9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00400"/>
            <a:ext cx="31242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EA356-3F74-4DE7-A2C5-1A75D289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可重建检索层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6ABD3-BA7C-457F-BEEB-5C6CE6EB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2933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全文 / Vector / Rerank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按 CA Version 隔离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7E1ED-38A4-4E64-9E9A-98E229BB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0400"/>
            <a:ext cx="31242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AE754-C7F4-4D98-8E34-936FA1E5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575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F314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F314A"/>
                </a:solidFill>
                <a:latin typeface="PingFang SC"/>
                <a:ea typeface="PingFang SC"/>
                <a:cs typeface="PingFang SC"/>
              </a:rPr>
              <a:t>分析与冷数据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85D54-BC90-40F8-AB5E-B1879957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81400"/>
            <a:ext cx="2933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长期会话 / 效果指标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跨版本趋势与离线调优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A418FE-8B62-44F4-ACB9-3511EC96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E5909B-5419-4612-8A48-A4919B2C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43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事实版本可重建检索；对象不可覆盖；分析存储不反向决定线上回答。</a:t>
            </a:r>
          </a:p>
        </p:txBody>
      </p:sp>
    </p:spTree>
    <p:extLst>
      <p:ext uri="{BB962C8B-B14F-4D97-AF65-F5344CB8AC3E}">
        <p14:creationId xmlns:p14="http://schemas.microsoft.com/office/powerpoint/2010/main" val="3830411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F56ABF-A6CE-4F4F-93D6-45E70459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DD0FD-7EF4-49C0-999B-B358469B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"/>
            <a:ext cx="1032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关系表负责可追溯，JSONB 负责完整快照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C372A-7A3A-4BD6-80BC-397F31D6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8"/>
          </a:solidFill>
          <a:ln xmlns:a="http://schemas.openxmlformats.org/drawingml/2006/main" w="0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3B62A-8BE3-4375-9E66-74C19442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身份与依赖不能只存在 JSON 数组，否则无法可靠做外键、影响分析和租户隔离。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B1C35-9B71-4570-90CE-B5968C86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rPr>
              <a:t>XIAOFEI · KU → 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26371-06B0-495E-951C-E61ACE17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336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50013-5D33-403A-B01F-18A42833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416D3-80E9-4BDC-AC13-25D4BDB2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336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D3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19859-3F75-4035-B07A-FAD1E929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336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D3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E2A99-6378-4816-AC96-4A471A9D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241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2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7F587-2804-4BCD-B129-9CBE6ACE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2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6C9A3-C831-424E-8D40-9CD363F7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2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4D069-FEBF-47E4-A2A4-C0663020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2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5480C-136B-4F5B-B6A3-97B00294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241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2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AC8C1-0396-4D1E-B284-355B03BE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4F22D-2595-490D-83D1-59333D74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314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Source 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91A07-19F0-4F10-8429-6274C951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1450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913E6-25A6-4637-838F-1D082FA1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14500"/>
            <a:ext cx="1314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KU Revision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CFBF2-C83B-427B-BD88-E1F95F5C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1450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F5C6A-82B4-490A-B43B-60DC4C84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1314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CA Version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08290F-E620-4A47-B959-36BE0110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1450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356E6B"/>
          </a:solidFill>
          <a:ln xmlns:a="http://schemas.openxmlformats.org/drawingml/2006/main" w="9525">
            <a:solidFill>
              <a:srgbClr val="356E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5C3E0-B065-41FC-8AEF-4D51CC40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1314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Release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09495D-3CC9-41C5-A3EC-B9639562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14500"/>
            <a:ext cx="17907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F1331-5F74-411B-8ED6-1C31E775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14500"/>
            <a:ext cx="1676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Conversation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92E77-8249-4735-BB36-19EEDC33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905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79EC2-19E8-49D0-A9D6-E6CF594D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EvidenceRef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7EAC77-9C5C-4F22-BFF9-3D64F773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原文位置 / 快照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C8C2D1-5EDA-4750-925B-B04683CC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38550"/>
            <a:ext cx="1905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485144-6A88-4787-8BEB-CE2DCAF9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95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CA Version KU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C2E081-997A-46A6-874B-02CE0798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195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role / priority / conflict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2D9D95-A4E9-466C-9082-7C1D8708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38550"/>
            <a:ext cx="1905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FD7821-FE3F-4378-98C1-1C62A2B9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95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Eval Run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41069D-2CC3-4BF4-ADD7-7B79FFF9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195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dataset / result / diff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6F5956-01BB-42F3-B031-185B61A9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38550"/>
            <a:ext cx="1905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07F430-D077-4380-AA4D-5B37B168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95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Active Binding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663980-9ABE-41D2-B381-F057928A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195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当前 / 上一个 Release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60A743-9164-4F9A-A971-46AC47EA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38550"/>
            <a:ext cx="1905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0BDFCA-3B79-448D-B262-634FA9B3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95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ConversationTurn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A1CCB4-9366-4E62-81B5-072724DF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195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输入 / 输出 / 状态 / Trace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035DAB-EF92-420E-924E-0F63AF90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F314A"/>
          </a:solidFill>
          <a:ln xmlns:a="http://schemas.openxmlformats.org/drawingml/2006/main" w="0">
            <a:solidFill>
              <a:srgbClr val="1F31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762EDD-1D4C-4060-96B4-A1F5B198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普通列：ID / workspace / version / status / hash / gate / time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6BF75D-A72D-4F1B-ADE6-7344D6A2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7685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>
                <a:solidFill>
                  <a:srgbClr val="BFD3C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FD3CF"/>
                </a:solidFill>
                <a:latin typeface="PingFang SC"/>
                <a:ea typeface="PingFang SC"/>
                <a:cs typeface="PingFang SC"/>
              </a:rPr>
              <a:t>JSONB：KU content / CA manifest / state / diff / small trace</a:t>
            </a:r>
          </a:p>
        </p:txBody>
      </p:sp>
    </p:spTree>
    <p:extLst>
      <p:ext uri="{BB962C8B-B14F-4D97-AF65-F5344CB8AC3E}">
        <p14:creationId xmlns:p14="http://schemas.microsoft.com/office/powerpoint/2010/main" val="11094991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CE8F7E-3ADB-410C-B616-C4E92648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186A7-76D4-466B-9DE7-30DD18B4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"/>
            <a:ext cx="1032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会话用“当前快照 + 追加 Turn”分开存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FFA6C-F367-4BF7-8265-F8D5E860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8"/>
          </a:solidFill>
          <a:ln xmlns:a="http://schemas.openxmlformats.org/drawingml/2006/main" w="0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E465E-9E76-44F1-B2D3-B190CDAD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避免单行 JSON 无限增长；LangGraph checkpoint 也不能替代领域状态与版本固定。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25FDE-9474-4BCE-A09E-D1A24674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rPr>
              <a:t>XIAOFEI · KU → 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591DB-A957-417C-B9E4-1F33BFF8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69935-1967-4939-8600-46D820DB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41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1FDAB-77E8-4783-A78B-2C7FB94C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590800" cy="2819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F314A"/>
          </a:solidFill>
          <a:ln xmlns:a="http://schemas.openxmlformats.org/drawingml/2006/main" w="0">
            <a:solidFill>
              <a:srgbClr val="1F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C568D-3FBC-405E-A8D5-C47DD9DF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Conversation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54184-9EE3-4DA3-8BA6-0534230F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releaseId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capabilityVersionId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manifestHash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stateSchemaVersion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stateVersion / ownerEpoch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currentState JSONB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D30CD-A7A1-4CC5-83B6-A49177C0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581150"/>
            <a:ext cx="363855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D54E3-90D8-4AD3-B291-A578AF28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52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每轮原子更新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5931C-057F-46AA-AAE6-79261328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F9234-3C78-4B94-AA7E-662B16FD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03263-C372-4790-9AD5-3DDFCEF7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479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消息幂等校验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6151B-D75D-454D-8ED7-86489921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67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A51B6-0B43-4AFE-8B3E-98D0BD26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67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A1D46-D05D-481E-9E94-EE61BE98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读取固定 Release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05A99-5AE7-4A33-8BD1-AD8854B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7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FB14D4-C649-497F-BCEF-2631869B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70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02259-763F-4F4D-A396-645A1BAD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LangGraph 状态迁移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6B451-5764-4A0E-9182-571328B8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67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CC2A3-9B52-4761-8AEA-95A4BABD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671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9A3E7F-9BFB-4E22-969D-03B47F1E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480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写 Turn + 更新 currentState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8E67B-5A8A-46E1-B51F-507D9DC2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67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A30A93-0FEA-4C00-B2AF-50F7ADBF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671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DF240D-E65F-4773-BB70-5976E3FF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481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Outbox 可靠发送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EBAB92-9E66-4EAD-832A-482E1551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360045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8B9BB3-1B04-45F3-A087-ADE43005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38300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F314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F314A"/>
                </a:solidFill>
                <a:latin typeface="PingFang SC"/>
                <a:ea typeface="PingFang SC"/>
                <a:cs typeface="PingFang SC"/>
              </a:rPr>
              <a:t>ConversationTurn（追加式）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598669-A6F0-4527-9EBC-08F1D57F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34099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turnIndex / messageId / idempotencyKey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input / output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stateBeforeHash / stateAfterHash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matchedKuRevisionIds / nextAction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modelRunId / traceObjectRef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B869B6-BC14-46A2-BF7F-BDBD1ABE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0F2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59DEEB-1C8B-47F7-BCC7-4C2F828F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渐进迁移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357FA0-E8E2-41BF-86B0-04A05417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14900"/>
            <a:ext cx="901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先给现有 state/messages/traceEvents 增加版本固定列并双写 Turn；验证稳定后，再停止 JSON 数组持续追加。</a:t>
            </a:r>
          </a:p>
        </p:txBody>
      </p:sp>
    </p:spTree>
    <p:extLst>
      <p:ext uri="{BB962C8B-B14F-4D97-AF65-F5344CB8AC3E}">
        <p14:creationId xmlns:p14="http://schemas.microsoft.com/office/powerpoint/2010/main" val="14495554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BA9B9-8AA0-4986-B809-DE6412D1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08577-B611-4553-B8AA-81CA874C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"/>
            <a:ext cx="1032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实施顺序先建立版本骨架，再闭合反馈与运行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F555B-944C-4E73-8CC2-76363A09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8"/>
          </a:solidFill>
          <a:ln xmlns:a="http://schemas.openxmlformats.org/drawingml/2006/main" w="0">
            <a:solidFill>
              <a:srgbClr val="CBD2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FD29D-2A1E-446E-AE36-E9AA389C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四个阶段都沿用当前 TypeScript、Mastra、LangGraph 和 Prisma 边界，不做大爆炸式重写。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3CAB2-1FB7-44EB-BBE2-9FA41F28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B949F"/>
                </a:solidFill>
                <a:latin typeface="PingFang SC"/>
                <a:ea typeface="PingFang SC"/>
                <a:cs typeface="PingFang SC"/>
              </a:rPr>
              <a:t>XIAOFEI · KU → 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73FAA-15E6-4168-A853-14A32ABD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813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F958D-DD70-47D9-8D4F-C50799B2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813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A4725-8E6D-4621-AEA4-4C06A45D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81350"/>
            <a:ext cx="361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3CF"/>
          </a:solidFill>
          <a:ln xmlns:a="http://schemas.openxmlformats.org/drawingml/2006/main" w="0">
            <a:solidFill>
              <a:srgbClr val="BFD3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E703C-EFB4-477A-93A6-B14B59BD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266950" cy="31432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3EEEB"/>
          </a:solidFill>
          <a:ln xmlns:a="http://schemas.openxmlformats.org/drawingml/2006/main" w="9525">
            <a:solidFill>
              <a:srgbClr val="BFD3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22BE5-B177-4432-8629-A87A177E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533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11BB8-BC58-49E2-BBAA-FFDE1BFB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证据 + 版本骨架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87D06-7E99-42BF-BE20-196412A8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1847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Source Version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KU Revision + Evidence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CA Compiler + 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737E3-7BCE-4885-89B1-9D6B0185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95450"/>
            <a:ext cx="2266950" cy="31432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1FE80-78F4-4526-B568-F97A0D59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66900"/>
            <a:ext cx="533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E8825-3020-4651-99C7-31D787AE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90800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运行固定 + 发布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51FD1-695F-48F6-91C9-A1901622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95650"/>
            <a:ext cx="1847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Release / Binding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Conversation pin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Turn / Outbox / 回滚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F952B-9376-4767-A860-2744510A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2266950" cy="31432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A49B8-E24D-4722-AE54-0A828207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533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356E6B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356E6B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69495-275E-4248-92F2-68AB8B86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2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235"/>
                </a:solidFill>
                <a:latin typeface="PingFang SC"/>
                <a:ea typeface="PingFang SC"/>
                <a:cs typeface="PingFang SC"/>
              </a:rPr>
              <a:t>质量 + 测试反馈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8C2596-CEF2-4BD8-AA60-5BE18061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95650"/>
            <a:ext cx="1847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Quality Issue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Sandbox / Annotation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281"/>
                </a:solidFill>
                <a:latin typeface="PingFang SC"/>
                <a:ea typeface="PingFang SC"/>
                <a:cs typeface="PingFang SC"/>
              </a:rPr>
              <a:t>Patch / ChangeSet / Eval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B4495-F256-4BA4-AD07-0384ADF4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66950" cy="31432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F314A"/>
          </a:solidFill>
          <a:ln xmlns:a="http://schemas.openxmlformats.org/drawingml/2006/main" w="9525">
            <a:solidFill>
              <a:srgbClr val="1F31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D6C8C-6BD5-4464-8DB2-3F76D81A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66900"/>
            <a:ext cx="533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A4059"/>
          </a:solidFill>
          <a:ln xmlns:a="http://schemas.openxmlformats.org/drawingml/2006/main" w="9525">
            <a:solidFill>
              <a:srgbClr val="4A657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BFD3C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BFD3CF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D6359-8D5C-41E3-A144-946A440E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90800"/>
            <a:ext cx="1847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基线 + 检索扩展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181F1A-6E55-4DBC-8F28-73820F72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95650"/>
            <a:ext cx="1847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Baseline Overlay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版本隔离检索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DE6E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DE6EB"/>
                </a:solidFill>
                <a:latin typeface="PingFang SC"/>
                <a:ea typeface="PingFang SC"/>
                <a:cs typeface="PingFang SC"/>
              </a:rPr>
              <a:t>Shadow / Assist / 指标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DD335A-1518-4E96-A029-6F1178D2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E4E0"/>
          </a:solidFill>
          <a:ln xmlns:a="http://schemas.openxmlformats.org/drawingml/2006/main" w="9525">
            <a:solidFill>
              <a:srgbClr val="D7B5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67092-5812-4398-894B-76CA8684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A7574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7574E"/>
                </a:solidFill>
                <a:latin typeface="PingFang SC"/>
                <a:ea typeface="PingFang SC"/>
                <a:cs typeface="PingFang SC"/>
              </a:rPr>
              <a:t>可以延后：子对象独立版本、可视化 Graph 编辑器、复杂版本 DAG、独立向量服务、自动灰度。</a:t>
            </a:r>
          </a:p>
        </p:txBody>
      </p:sp>
    </p:spTree>
    <p:extLst>
      <p:ext uri="{BB962C8B-B14F-4D97-AF65-F5344CB8AC3E}">
        <p14:creationId xmlns:p14="http://schemas.microsoft.com/office/powerpoint/2010/main" val="10659628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F31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106960-AC9F-46E4-B89C-960D36C2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第一阶段真正完成的标志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0FDBE-7BCA-420A-818E-E1C9DC42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BFD3C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FD3CF"/>
                </a:solidFill>
                <a:latin typeface="PingFang SC"/>
                <a:ea typeface="PingFang SC"/>
                <a:cs typeface="PingFang SC"/>
              </a:rPr>
              <a:t>不是页面数量，而是一条可复现、可反馈、可回滚的真实闭环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1704B-3863-4EEF-AD39-7689739B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289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B8A"/>
          </a:solidFill>
          <a:ln xmlns:a="http://schemas.openxmlformats.org/drawingml/2006/main" w="0">
            <a:solidFill>
              <a:srgbClr val="668B8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25710-73B7-44CA-B388-C227175E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289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B8A"/>
          </a:solidFill>
          <a:ln xmlns:a="http://schemas.openxmlformats.org/drawingml/2006/main" w="0">
            <a:solidFill>
              <a:srgbClr val="668B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2226D-5EB5-4F35-A827-AA65667B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289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B8A"/>
          </a:solidFill>
          <a:ln xmlns:a="http://schemas.openxmlformats.org/drawingml/2006/main" w="0">
            <a:solidFill>
              <a:srgbClr val="668B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3DB34-4251-476E-ABC6-35C9280C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289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B8A"/>
          </a:solidFill>
          <a:ln xmlns:a="http://schemas.openxmlformats.org/drawingml/2006/main" w="0">
            <a:solidFill>
              <a:srgbClr val="668B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6EF51-2B95-4D75-BB82-9A132778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289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B8A"/>
          </a:solidFill>
          <a:ln xmlns:a="http://schemas.openxmlformats.org/drawingml/2006/main" w="0">
            <a:solidFill>
              <a:srgbClr val="668B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348F6-678C-4A3F-B9A7-F77D85E5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B8A"/>
          </a:solidFill>
          <a:ln xmlns:a="http://schemas.openxmlformats.org/drawingml/2006/main" w="0">
            <a:solidFill>
              <a:srgbClr val="668B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056E5-9BEB-4E70-9CAE-87EBAF8B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B8A"/>
          </a:solidFill>
          <a:ln xmlns:a="http://schemas.openxmlformats.org/drawingml/2006/main" w="0">
            <a:solidFill>
              <a:srgbClr val="668B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32E58-D398-486E-A209-EB99AB86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9906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93D57"/>
          </a:solidFill>
          <a:ln xmlns:a="http://schemas.openxmlformats.org/drawingml/2006/main" w="9525">
            <a:solidFill>
              <a:srgbClr val="536A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D1EB7-4A93-46D4-939A-21588CF4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14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16A9F-A90D-4612-AA54-79D0A2FD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14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410FD-4E99-4139-8BCD-CDEE23F2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平台基线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4FB4D-8D7C-4F5E-AEB8-021E1E91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67000"/>
            <a:ext cx="9906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93D57"/>
          </a:solidFill>
          <a:ln xmlns:a="http://schemas.openxmlformats.org/drawingml/2006/main" w="9525">
            <a:solidFill>
              <a:srgbClr val="536A7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1A608-B175-4CD4-8C95-418BAB20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14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9B301-23AA-423D-9748-D1131AE5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14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A5C9DD-4EE7-46EF-9549-D35998DA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5275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商户导入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BEA9B-D81F-4A85-8C43-170EA22A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67000"/>
            <a:ext cx="9906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93D57"/>
          </a:solidFill>
          <a:ln xmlns:a="http://schemas.openxmlformats.org/drawingml/2006/main" w="9525">
            <a:solidFill>
              <a:srgbClr val="536A7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96379-E9D2-4686-9DCB-729DEEDD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14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5E7EB-14E1-413C-84C3-72D915A9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14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ABE16-84FE-4433-8BC7-8183C466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5275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质量处理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AA2B9-9876-4FE8-AFFF-1B8DAB98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67000"/>
            <a:ext cx="9906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93D57"/>
          </a:solidFill>
          <a:ln xmlns:a="http://schemas.openxmlformats.org/drawingml/2006/main" w="9525">
            <a:solidFill>
              <a:srgbClr val="536A7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B469B6-403A-4C6F-9580-93EA6E5D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514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EFEEBB-DBE3-4189-BFF1-F9723C08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514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87C6ED-822A-431C-8429-DB782BC0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5275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KU 审核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FE622B-5B8B-4593-9E70-6489E850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67000"/>
            <a:ext cx="9906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93D57"/>
          </a:solidFill>
          <a:ln xmlns:a="http://schemas.openxmlformats.org/drawingml/2006/main" w="9525">
            <a:solidFill>
              <a:srgbClr val="536A7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D7A350-9723-40F8-98AB-32C24AA9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14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5C67B9-8B54-4481-88E6-472E0B27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14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D41377-FC5F-4EBE-AAE6-568067DE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 编译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47C896-E9BE-4C1F-9BEA-F6F33944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67000"/>
            <a:ext cx="9906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93D57"/>
          </a:solidFill>
          <a:ln xmlns:a="http://schemas.openxmlformats.org/drawingml/2006/main" w="9525">
            <a:solidFill>
              <a:srgbClr val="536A7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75B2D7-540E-40C0-8717-CDDCA1E4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14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8E2E08-1E08-4AE1-BBF0-C51887FF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14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B83C09-8BCE-4BBD-952F-6F63CEC4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5275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多轮测试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5F1637-8C83-4C8D-AD9B-BE134C50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67000"/>
            <a:ext cx="9906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93D57"/>
          </a:solidFill>
          <a:ln xmlns:a="http://schemas.openxmlformats.org/drawingml/2006/main" w="9525">
            <a:solidFill>
              <a:srgbClr val="536A7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45D1AC-D04E-42B7-A0C3-E5225400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514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8F73A5-60A1-4789-8CA5-27B681E3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514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B720AA-CA06-40E9-9E8E-6AB2800F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5275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反馈回归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07D6E7-5A99-4279-A1FC-34BAF82C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67000"/>
            <a:ext cx="9906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356E6B"/>
          </a:solidFill>
          <a:ln xmlns:a="http://schemas.openxmlformats.org/drawingml/2006/main" w="9525">
            <a:solidFill>
              <a:srgbClr val="356E6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F30F34-8974-46DC-8783-EFB29D2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514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6B"/>
          </a:solidFill>
          <a:ln xmlns:a="http://schemas.openxmlformats.org/drawingml/2006/main" w="0">
            <a:solidFill>
              <a:srgbClr val="356E6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80E57B-12ED-483B-A377-A0835FDA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5146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DE7FFB-0A85-4EE0-B1FD-81C592EF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5275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发布回滚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D23FE4-E0C2-4C3E-83D2-32B04CCD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24350"/>
            <a:ext cx="8953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43A53"/>
          </a:solidFill>
          <a:ln xmlns:a="http://schemas.openxmlformats.org/drawingml/2006/main" w="9525">
            <a:solidFill>
              <a:srgbClr val="536A7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4814F1-CAB4-49C7-B0ED-5C1E3ED4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95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BFD3C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FD3CF"/>
                </a:solidFill>
                <a:latin typeface="PingFang SC"/>
                <a:ea typeface="PingFang SC"/>
                <a:cs typeface="PingFang SC"/>
              </a:rPr>
              <a:t>每一步都能回答三件事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80F89A-5B83-46EB-B0FB-46F90851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14900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依据什么版本？  谁确认了什么？  出问题如何复现与回退？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58AC9B-5D4B-40F8-99CA-79B8718B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8FA1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8FA1AF"/>
                </a:solidFill>
                <a:latin typeface="PingFang SC"/>
                <a:ea typeface="PingFang SC"/>
                <a:cs typeface="PingFang SC"/>
              </a:rPr>
              <a:t>XIAOFEI · KU → CA GOVERNANCE</a:t>
            </a:r>
          </a:p>
        </p:txBody>
      </p:sp>
    </p:spTree>
    <p:extLst>
      <p:ext uri="{BB962C8B-B14F-4D97-AF65-F5344CB8AC3E}">
        <p14:creationId xmlns:p14="http://schemas.microsoft.com/office/powerpoint/2010/main" val="2138136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2026-08-03T08:06:04.5350000Z</dcterms:created>
  <dcterms:modified xsi:type="dcterms:W3CDTF">2026-08-03T08:06:04.5350000Z</dcterms:modified>
</coreProperties>
</file>